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7" r:id="rId4"/>
    <p:sldId id="268" r:id="rId5"/>
    <p:sldId id="258" r:id="rId6"/>
    <p:sldId id="269" r:id="rId7"/>
    <p:sldId id="271" r:id="rId8"/>
    <p:sldId id="270" r:id="rId9"/>
    <p:sldId id="259" r:id="rId10"/>
    <p:sldId id="272" r:id="rId11"/>
    <p:sldId id="273" r:id="rId12"/>
    <p:sldId id="274" r:id="rId13"/>
    <p:sldId id="260" r:id="rId14"/>
    <p:sldId id="261" r:id="rId15"/>
    <p:sldId id="262" r:id="rId16"/>
    <p:sldId id="263" r:id="rId17"/>
    <p:sldId id="277" r:id="rId18"/>
    <p:sldId id="275" r:id="rId19"/>
    <p:sldId id="276" r:id="rId20"/>
    <p:sldId id="264" r:id="rId21"/>
    <p:sldId id="265" r:id="rId22"/>
    <p:sldId id="266" r:id="rId2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06"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90A15E-985D-4AA8-A540-2A291D1CD368}"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D781F5F-14A5-409E-9634-CCAF17ECA541}"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AA3149C-A080-4EFE-B67A-2B907137FCF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26531EC-A1E2-4208-9A4D-97B7D75D4F8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C234F97-EC7B-4B10-993E-A13B0F6BB86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0DD3E15-234B-44F3-9FFA-CBDDA307A2A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097327-B913-4099-B5FC-F494AF9E2FD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1CDF0-79E9-4705-A226-45705F9E3C96}"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4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59C6C4F-C0A8-464D-85ED-8F0AB1DFC76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49"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0"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A8C65F-BC4C-45D6-9D9D-817F4EFD0542}"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5"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6"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5D8ACF-03AD-49FD-BDF1-9136BEE7CD5E}"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hyperlink" Target="vscode-file://vscode-app/c:/Users/Kruthika%20S%20L/AppData/Local/Programs/Microsoft%20VS%20Code/e4c7e7b1d6/resources/app/out/vs/code/electron-browser/workbench/workbench.html"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hyperlink" Target="vscode-file://vscode-app/c:/Users/Kruthika%20S%20L/AppData/Local/Programs/Microsoft%20VS%20Code/e4c7e7b1d6/resources/app/out/vs/code/electron-browser/workbench/workbench.html"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Team &amp; Solution Overview</a:t>
            </a:r>
            <a:br>
              <a:rPr sz="4400"/>
            </a:br>
            <a:endParaRPr lang="en-US" sz="4400" b="0" u="none" strike="noStrike">
              <a:solidFill>
                <a:schemeClr val="dk1"/>
              </a:solidFill>
              <a:effectLst/>
              <a:uFillTx/>
              <a:latin typeface="Calibri"/>
            </a:endParaRPr>
          </a:p>
        </p:txBody>
      </p:sp>
      <p:sp>
        <p:nvSpPr>
          <p:cNvPr id="61" name="TextBox 4"/>
          <p:cNvSpPr/>
          <p:nvPr/>
        </p:nvSpPr>
        <p:spPr>
          <a:xfrm>
            <a:off x="731520" y="1097280"/>
            <a:ext cx="10439400"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2400" b="0" u="none" strike="noStrike" dirty="0">
                <a:solidFill>
                  <a:schemeClr val="dk1"/>
                </a:solidFill>
                <a:effectLst/>
                <a:uFillTx/>
                <a:latin typeface="Calibri"/>
              </a:rPr>
              <a:t>• Team name : </a:t>
            </a:r>
            <a:r>
              <a:rPr lang="en-US" sz="2400" b="0" u="none" strike="noStrike" dirty="0" err="1">
                <a:solidFill>
                  <a:schemeClr val="dk1"/>
                </a:solidFill>
                <a:effectLst/>
                <a:uFillTx/>
                <a:latin typeface="Calibri"/>
              </a:rPr>
              <a:t>Dataforge</a:t>
            </a:r>
            <a:endParaRPr lang="en-IN" sz="2400" b="0" u="none" strike="noStrike" dirty="0">
              <a:solidFill>
                <a:srgbClr val="000000"/>
              </a:solidFill>
              <a:effectLst/>
              <a:uFillTx/>
              <a:latin typeface="Arial"/>
            </a:endParaRPr>
          </a:p>
          <a:p>
            <a:pPr defTabSz="457200">
              <a:lnSpc>
                <a:spcPct val="100000"/>
              </a:lnSpc>
            </a:pPr>
            <a:r>
              <a:rPr lang="en-US" sz="2400" b="0" u="none" strike="noStrike" dirty="0">
                <a:solidFill>
                  <a:schemeClr val="dk1"/>
                </a:solidFill>
                <a:effectLst/>
                <a:uFillTx/>
                <a:latin typeface="Calibri"/>
              </a:rPr>
              <a:t>• Members: 3 (Kruthika S </a:t>
            </a:r>
            <a:r>
              <a:rPr lang="en-US" sz="2400" b="0" u="none" strike="noStrike" dirty="0" err="1">
                <a:solidFill>
                  <a:schemeClr val="dk1"/>
                </a:solidFill>
                <a:effectLst/>
                <a:uFillTx/>
                <a:latin typeface="Calibri"/>
              </a:rPr>
              <a:t>L,Manasa</a:t>
            </a:r>
            <a:r>
              <a:rPr lang="en-US" sz="2400" b="0" u="none" strike="noStrike" dirty="0">
                <a:solidFill>
                  <a:schemeClr val="dk1"/>
                </a:solidFill>
                <a:effectLst/>
                <a:uFillTx/>
                <a:latin typeface="Calibri"/>
              </a:rPr>
              <a:t> BP, Ashwini L) </a:t>
            </a:r>
            <a:endParaRPr lang="en-IN" sz="2400" b="0" u="none" strike="noStrike" dirty="0">
              <a:solidFill>
                <a:srgbClr val="000000"/>
              </a:solidFill>
              <a:effectLst/>
              <a:uFillTx/>
              <a:latin typeface="Arial"/>
            </a:endParaRPr>
          </a:p>
          <a:p>
            <a:pPr defTabSz="457200">
              <a:lnSpc>
                <a:spcPct val="100000"/>
              </a:lnSpc>
            </a:pPr>
            <a:r>
              <a:rPr lang="en-US" sz="2400" b="0" u="none" strike="noStrike" dirty="0">
                <a:solidFill>
                  <a:schemeClr val="dk1"/>
                </a:solidFill>
                <a:effectLst/>
                <a:uFillTx/>
                <a:latin typeface="Calibri"/>
              </a:rPr>
              <a:t>• Challenge area: </a:t>
            </a:r>
            <a:r>
              <a:rPr lang="en-IN" sz="2400" dirty="0"/>
              <a:t>The main challenge is to build a fast, stable, and interpretable analytics dashboard that can compare assessment outcomes across years and geographies, while also delivering predictive and diagnostic evidence that is useful for institutional reporting and decision-making.</a:t>
            </a:r>
            <a:endParaRPr lang="en-IN" sz="2400" b="0" u="none" strike="noStrike" dirty="0">
              <a:solidFill>
                <a:srgbClr val="000000"/>
              </a:solidFill>
              <a:effectLst/>
              <a:uFillTx/>
              <a:latin typeface="Arial"/>
            </a:endParaRPr>
          </a:p>
          <a:p>
            <a:pPr defTabSz="457200">
              <a:lnSpc>
                <a:spcPct val="100000"/>
              </a:lnSpc>
            </a:pPr>
            <a:r>
              <a:rPr lang="en-US" sz="2400" b="0" u="none" strike="noStrike" dirty="0">
                <a:solidFill>
                  <a:schemeClr val="dk1"/>
                </a:solidFill>
                <a:effectLst/>
                <a:uFillTx/>
                <a:latin typeface="Calibri"/>
              </a:rPr>
              <a:t>• One-line solution: </a:t>
            </a:r>
            <a:r>
              <a:rPr lang="en-IN" sz="2400" dirty="0"/>
              <a:t>Build a fast, stable, and interpretable multi-year assessment dashboard that turns workbook data into actionable district/block/GP-level insights with predictive and diagnostic evidence for reporting</a:t>
            </a:r>
            <a:endParaRPr lang="en-IN" sz="2400" b="0" u="none" strike="noStrike" dirty="0">
              <a:solidFill>
                <a:srgbClr val="000000"/>
              </a:solidFill>
              <a:effectLst/>
              <a:uFillTx/>
              <a:latin typeface="Arial"/>
            </a:endParaRPr>
          </a:p>
          <a:p>
            <a:pPr defTabSz="457200">
              <a:lnSpc>
                <a:spcPct val="100000"/>
              </a:lnSpc>
            </a:pPr>
            <a:r>
              <a:rPr lang="en-US" sz="2400" b="0" u="none" strike="noStrike" dirty="0">
                <a:solidFill>
                  <a:schemeClr val="dk1"/>
                </a:solidFill>
                <a:effectLst/>
                <a:uFillTx/>
                <a:latin typeface="Calibri"/>
              </a:rPr>
              <a:t>• Contact: 7899249481/ kruthilokesh49@gmail.com</a:t>
            </a:r>
            <a:endParaRPr lang="en-IN" sz="2400" b="0" u="none" strike="noStrike" dirty="0">
              <a:solidFill>
                <a:srgbClr val="000000"/>
              </a:solidFill>
              <a:effectLst/>
              <a:uFillTx/>
              <a:latin typeface="Arial"/>
            </a:endParaRPr>
          </a:p>
        </p:txBody>
      </p:sp>
      <p:sp>
        <p:nvSpPr>
          <p:cNvPr id="62"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828800" y="27864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Problem Statement</a:t>
            </a:r>
            <a:br>
              <a:rPr sz="4400"/>
            </a:br>
            <a:endParaRPr lang="en-US" sz="4400" b="0" u="none" strike="noStrike">
              <a:solidFill>
                <a:schemeClr val="dk1"/>
              </a:solidFill>
              <a:effectLst/>
              <a:uFillTx/>
              <a:latin typeface="Calibri"/>
            </a:endParaRPr>
          </a:p>
        </p:txBody>
      </p:sp>
      <p:sp>
        <p:nvSpPr>
          <p:cNvPr id="63" name="TextBox 4"/>
          <p:cNvSpPr/>
          <p:nvPr/>
        </p:nvSpPr>
        <p:spPr>
          <a:xfrm>
            <a:off x="731520" y="1097280"/>
            <a:ext cx="10866120" cy="489219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2400" b="0" u="none" strike="noStrike" dirty="0">
                <a:solidFill>
                  <a:schemeClr val="dk1"/>
                </a:solidFill>
                <a:effectLst/>
                <a:uFillTx/>
                <a:latin typeface="Calibri"/>
              </a:rPr>
              <a:t>• Educational challenge : </a:t>
            </a:r>
            <a:r>
              <a:rPr lang="en-IN" sz="2400" dirty="0"/>
              <a:t>Create a data-driven assessment dashboard that helps educators compare student performance across years, grades, districts, blocks, and gram panchayats, while identifying weak learning areas and generating predictive insights to support targeted academic improvement.</a:t>
            </a:r>
            <a:endParaRPr lang="en-IN" sz="2400" b="0" u="none" strike="noStrike" dirty="0">
              <a:solidFill>
                <a:srgbClr val="000000"/>
              </a:solidFill>
              <a:effectLst/>
              <a:uFillTx/>
              <a:latin typeface="Arial"/>
            </a:endParaRPr>
          </a:p>
          <a:p>
            <a:pPr lvl="0"/>
            <a:r>
              <a:rPr lang="en-US" sz="2400" b="0" u="none" strike="noStrike" dirty="0">
                <a:solidFill>
                  <a:schemeClr val="dk1"/>
                </a:solidFill>
                <a:effectLst/>
                <a:uFillTx/>
                <a:latin typeface="Calibri"/>
              </a:rPr>
              <a:t>• Objectives: </a:t>
            </a:r>
          </a:p>
          <a:p>
            <a:pPr lvl="0"/>
            <a:r>
              <a:rPr lang="en-US" sz="2400" b="0" u="none" strike="noStrike" dirty="0">
                <a:solidFill>
                  <a:schemeClr val="dk1"/>
                </a:solidFill>
                <a:effectLst/>
                <a:uFillTx/>
                <a:latin typeface="Calibri"/>
              </a:rPr>
              <a:t>1:</a:t>
            </a:r>
            <a:r>
              <a:rPr lang="en-IN" sz="2400" dirty="0" err="1"/>
              <a:t>Analyze</a:t>
            </a:r>
            <a:r>
              <a:rPr lang="en-IN" sz="2400" dirty="0"/>
              <a:t> student assessment performance year-wise and compare trends across years.</a:t>
            </a:r>
          </a:p>
          <a:p>
            <a:pPr lvl="0"/>
            <a:r>
              <a:rPr lang="en-IN" sz="2400" dirty="0"/>
              <a:t>2:Enable multi-level filtering by district, block, GP ID, grade, and gender.</a:t>
            </a:r>
          </a:p>
          <a:p>
            <a:pPr lvl="0"/>
            <a:r>
              <a:rPr lang="en-IN" sz="2400" dirty="0"/>
              <a:t>3:Identify weak competency areas and question-level performance gaps.</a:t>
            </a:r>
          </a:p>
          <a:p>
            <a:pPr lvl="0"/>
            <a:r>
              <a:rPr lang="en-IN" sz="2400" dirty="0"/>
              <a:t>4:Generate predictive and diagnostic insights using machine learning models.</a:t>
            </a:r>
          </a:p>
          <a:p>
            <a:pPr lvl="0"/>
            <a:r>
              <a:rPr lang="en-IN" sz="2400" dirty="0"/>
              <a:t>5:Present the results through a </a:t>
            </a:r>
            <a:r>
              <a:rPr lang="en-IN" sz="2400" dirty="0" err="1"/>
              <a:t>Streamlit</a:t>
            </a:r>
            <a:r>
              <a:rPr lang="en-IN" sz="2400" dirty="0"/>
              <a:t> dashboard for interactive exploration.</a:t>
            </a:r>
          </a:p>
          <a:p>
            <a:pPr lvl="0"/>
            <a:r>
              <a:rPr lang="en-IN" sz="2400" dirty="0"/>
              <a:t>6:Convert findings into a report-ready and presentation-ready narrative.</a:t>
            </a:r>
          </a:p>
          <a:p>
            <a:pPr defTabSz="457200">
              <a:lnSpc>
                <a:spcPct val="100000"/>
              </a:lnSpc>
            </a:pPr>
            <a:endParaRPr lang="en-IN" sz="2400" b="0" u="none" strike="noStrike" dirty="0">
              <a:solidFill>
                <a:srgbClr val="000000"/>
              </a:solidFill>
              <a:effectLst/>
              <a:uFillTx/>
              <a:latin typeface="Arial"/>
            </a:endParaRPr>
          </a:p>
        </p:txBody>
      </p:sp>
      <p:sp>
        <p:nvSpPr>
          <p:cNvPr id="64"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BC37831-7244-E119-8092-B1F4B26982A0}"/>
              </a:ext>
            </a:extLst>
          </p:cNvPr>
          <p:cNvSpPr>
            <a:spLocks noGrp="1"/>
          </p:cNvSpPr>
          <p:nvPr>
            <p:ph type="body"/>
          </p:nvPr>
        </p:nvSpPr>
        <p:spPr>
          <a:xfrm>
            <a:off x="540960" y="1023240"/>
            <a:ext cx="11110080" cy="4811520"/>
          </a:xfrm>
        </p:spPr>
        <p:txBody>
          <a:bodyPr>
            <a:normAutofit fontScale="92500" lnSpcReduction="10000"/>
          </a:bodyPr>
          <a:lstStyle/>
          <a:p>
            <a:pPr defTabSz="457200">
              <a:lnSpc>
                <a:spcPct val="100000"/>
              </a:lnSpc>
            </a:pPr>
            <a:r>
              <a:rPr lang="en-US" sz="2600" dirty="0">
                <a:solidFill>
                  <a:schemeClr val="dk1"/>
                </a:solidFill>
              </a:rPr>
              <a:t> Key questions:</a:t>
            </a:r>
          </a:p>
          <a:p>
            <a:pPr lvl="0"/>
            <a:r>
              <a:rPr lang="en-IN" sz="2600" dirty="0"/>
              <a:t>How does student performance change across the three academic years?</a:t>
            </a:r>
          </a:p>
          <a:p>
            <a:pPr lvl="0"/>
            <a:r>
              <a:rPr lang="en-IN" sz="2600" dirty="0"/>
              <a:t>Which grades are improving or declining over time?</a:t>
            </a:r>
          </a:p>
          <a:p>
            <a:pPr lvl="0"/>
            <a:r>
              <a:rPr lang="en-IN" sz="2600" dirty="0"/>
              <a:t>How do district, block, and GP-level regions compare in performance?</a:t>
            </a:r>
          </a:p>
          <a:p>
            <a:pPr lvl="0"/>
            <a:r>
              <a:rPr lang="en-IN" sz="2600" dirty="0"/>
              <a:t>Which gender groups are more represented and how does performance vary by gender?</a:t>
            </a:r>
          </a:p>
          <a:p>
            <a:pPr lvl="0"/>
            <a:r>
              <a:rPr lang="en-IN" sz="2600" dirty="0"/>
              <a:t>Which competency areas or question types are the weakest?</a:t>
            </a:r>
          </a:p>
          <a:p>
            <a:pPr lvl="0"/>
            <a:r>
              <a:rPr lang="en-IN" sz="2600" dirty="0"/>
              <a:t>Which geographies can be used as strong benchmark models for improvement?</a:t>
            </a:r>
          </a:p>
          <a:p>
            <a:pPr lvl="0"/>
            <a:r>
              <a:rPr lang="en-IN" sz="2600" dirty="0"/>
              <a:t>Can predictive machine learning models identify likely high-performing or low-performing groups?</a:t>
            </a:r>
          </a:p>
          <a:p>
            <a:pPr lvl="0"/>
            <a:r>
              <a:rPr lang="en-IN" sz="2600" dirty="0"/>
              <a:t>What actionable recommendations can be made from the dataset for intervention and planning?</a:t>
            </a:r>
          </a:p>
          <a:p>
            <a:pPr defTabSz="457200">
              <a:lnSpc>
                <a:spcPct val="100000"/>
              </a:lnSpc>
            </a:pPr>
            <a:endParaRPr lang="en-IN" dirty="0">
              <a:solidFill>
                <a:srgbClr val="000000"/>
              </a:solidFill>
              <a:latin typeface="Arial"/>
            </a:endParaRPr>
          </a:p>
          <a:p>
            <a:pPr marL="0" indent="0">
              <a:buNone/>
            </a:pPr>
            <a:endParaRPr lang="en-IN" dirty="0"/>
          </a:p>
        </p:txBody>
      </p:sp>
    </p:spTree>
    <p:extLst>
      <p:ext uri="{BB962C8B-B14F-4D97-AF65-F5344CB8AC3E}">
        <p14:creationId xmlns:p14="http://schemas.microsoft.com/office/powerpoint/2010/main" val="362163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10C9CD-5C49-ED05-DB0C-C36F3A5DE248}"/>
              </a:ext>
            </a:extLst>
          </p:cNvPr>
          <p:cNvSpPr>
            <a:spLocks noGrp="1"/>
          </p:cNvSpPr>
          <p:nvPr>
            <p:ph type="body"/>
          </p:nvPr>
        </p:nvSpPr>
        <p:spPr>
          <a:xfrm>
            <a:off x="335280" y="472440"/>
            <a:ext cx="11521440" cy="5372100"/>
          </a:xfrm>
        </p:spPr>
        <p:txBody>
          <a:bodyPr/>
          <a:lstStyle/>
          <a:p>
            <a:pPr marL="0" indent="0">
              <a:buNone/>
            </a:pPr>
            <a:r>
              <a:rPr lang="en-IN" sz="2400" dirty="0"/>
              <a:t>Why it matters?:</a:t>
            </a:r>
          </a:p>
          <a:p>
            <a:r>
              <a:rPr lang="en-IN" sz="2400" dirty="0"/>
              <a:t>These key questions matter because they convert raw assessment data into actionable educational insight.</a:t>
            </a:r>
          </a:p>
          <a:p>
            <a:pPr lvl="0"/>
            <a:r>
              <a:rPr lang="en-IN" sz="2400" dirty="0"/>
              <a:t>They show whether the program is improving over time.</a:t>
            </a:r>
          </a:p>
          <a:p>
            <a:pPr lvl="0"/>
            <a:r>
              <a:rPr lang="en-IN" sz="2400" dirty="0"/>
              <a:t>They help compare performance across administrative units like districts, blocks, and GP IDs.</a:t>
            </a:r>
          </a:p>
          <a:p>
            <a:pPr lvl="0"/>
            <a:r>
              <a:rPr lang="en-IN" sz="2400" dirty="0"/>
              <a:t>They reveal where interventions are most needed by identifying weak competency areas.</a:t>
            </a:r>
          </a:p>
          <a:p>
            <a:pPr lvl="0"/>
            <a:r>
              <a:rPr lang="en-IN" sz="2400" dirty="0"/>
              <a:t>They support targeted support for different gender groups and grade segments.</a:t>
            </a:r>
          </a:p>
          <a:p>
            <a:pPr lvl="0"/>
            <a:r>
              <a:rPr lang="en-IN" sz="2400" dirty="0"/>
              <a:t>They make predictive analysis useful for planning future outcomes.</a:t>
            </a:r>
          </a:p>
          <a:p>
            <a:pPr lvl="0"/>
            <a:r>
              <a:rPr lang="en-IN" sz="2400" dirty="0"/>
              <a:t>They turn the dashboard from a raw data view into a decision-support tool for educators and administrators.</a:t>
            </a:r>
          </a:p>
          <a:p>
            <a:endParaRPr lang="en-IN" dirty="0"/>
          </a:p>
        </p:txBody>
      </p:sp>
    </p:spTree>
    <p:extLst>
      <p:ext uri="{BB962C8B-B14F-4D97-AF65-F5344CB8AC3E}">
        <p14:creationId xmlns:p14="http://schemas.microsoft.com/office/powerpoint/2010/main" val="4127323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828800" y="3538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1" u="none" strike="noStrike" dirty="0">
                <a:solidFill>
                  <a:schemeClr val="dk1"/>
                </a:solidFill>
                <a:effectLst/>
                <a:uFillTx/>
                <a:latin typeface="Calibri"/>
              </a:rPr>
              <a:t>Dataset Understanding</a:t>
            </a:r>
            <a:br>
              <a:rPr sz="4400" dirty="0"/>
            </a:br>
            <a:endParaRPr lang="en-US" sz="4400" b="0" u="none" strike="noStrike" dirty="0">
              <a:solidFill>
                <a:schemeClr val="dk1"/>
              </a:solidFill>
              <a:effectLst/>
              <a:uFillTx/>
              <a:latin typeface="Calibri"/>
            </a:endParaRPr>
          </a:p>
        </p:txBody>
      </p:sp>
      <p:sp>
        <p:nvSpPr>
          <p:cNvPr id="65" name="TextBox 4"/>
          <p:cNvSpPr/>
          <p:nvPr/>
        </p:nvSpPr>
        <p:spPr>
          <a:xfrm>
            <a:off x="457200" y="1656720"/>
            <a:ext cx="11277600" cy="304553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400" b="0" u="none" strike="noStrike" dirty="0">
                <a:solidFill>
                  <a:schemeClr val="dk1"/>
                </a:solidFill>
                <a:effectLst/>
                <a:uFillTx/>
                <a:latin typeface="Calibri"/>
              </a:rPr>
              <a:t>• Dataset summary : </a:t>
            </a:r>
            <a:r>
              <a:rPr lang="en-IN" sz="2400" dirty="0"/>
              <a:t>The dataset is a multi-year student assessment workbook collection containing student-level response records across academic years, with fields such as district, block, GP name, GP ID, gender, and question-wise score columns from Q1 to Q20. Each record represents a learner’s assessment response pattern, and the overall score is derived by summing the question responses, enabling year-wise, geography-wise, grade-wise, gender-wise, and competency-wise analysis. This makes the dataset suitable for identifying performance trends, benchmarking regions, diagnosing weak learning areas, and supporting predictive and intervention-focused decision-making.</a:t>
            </a:r>
            <a:endParaRPr lang="en-IN" sz="2400" b="0" u="none" strike="noStrike" dirty="0">
              <a:solidFill>
                <a:srgbClr val="000000"/>
              </a:solidFill>
              <a:effectLst/>
              <a:uFillTx/>
              <a:latin typeface="Arial"/>
            </a:endParaRPr>
          </a:p>
        </p:txBody>
      </p:sp>
      <p:sp>
        <p:nvSpPr>
          <p:cNvPr id="66"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A13ADC-022D-FA93-2C16-90B9A9DAF02D}"/>
              </a:ext>
            </a:extLst>
          </p:cNvPr>
          <p:cNvSpPr>
            <a:spLocks noGrp="1"/>
          </p:cNvSpPr>
          <p:nvPr>
            <p:ph type="body"/>
          </p:nvPr>
        </p:nvSpPr>
        <p:spPr>
          <a:xfrm>
            <a:off x="121800" y="126240"/>
            <a:ext cx="11704440" cy="5664960"/>
          </a:xfrm>
        </p:spPr>
        <p:txBody>
          <a:bodyPr>
            <a:noAutofit/>
          </a:bodyPr>
          <a:lstStyle/>
          <a:p>
            <a:pPr defTabSz="457200">
              <a:lnSpc>
                <a:spcPct val="100000"/>
              </a:lnSpc>
            </a:pPr>
            <a:r>
              <a:rPr lang="en-US" sz="1800" b="1" dirty="0">
                <a:solidFill>
                  <a:schemeClr val="dk1"/>
                </a:solidFill>
              </a:rPr>
              <a:t> Variables:</a:t>
            </a:r>
          </a:p>
          <a:p>
            <a:pPr marL="0" indent="0">
              <a:buNone/>
            </a:pPr>
            <a:r>
              <a:rPr lang="en-IN" sz="1800" dirty="0"/>
              <a:t>The main variables used for analysis are:</a:t>
            </a:r>
          </a:p>
          <a:p>
            <a:pPr lvl="0"/>
            <a:r>
              <a:rPr lang="en-IN" sz="1800" dirty="0"/>
              <a:t>District</a:t>
            </a:r>
          </a:p>
          <a:p>
            <a:pPr lvl="0"/>
            <a:r>
              <a:rPr lang="en-IN" sz="1800" dirty="0"/>
              <a:t>Block</a:t>
            </a:r>
          </a:p>
          <a:p>
            <a:pPr lvl="0"/>
            <a:r>
              <a:rPr lang="en-IN" sz="1800" dirty="0"/>
              <a:t>Cluster</a:t>
            </a:r>
          </a:p>
          <a:p>
            <a:pPr lvl="0"/>
            <a:r>
              <a:rPr lang="en-IN" sz="1800" dirty="0"/>
              <a:t>GP Name</a:t>
            </a:r>
          </a:p>
          <a:p>
            <a:pPr lvl="0"/>
            <a:r>
              <a:rPr lang="en-IN" sz="1800" dirty="0"/>
              <a:t>GP ID</a:t>
            </a:r>
          </a:p>
          <a:p>
            <a:pPr lvl="0"/>
            <a:r>
              <a:rPr lang="en-IN" sz="1800" dirty="0"/>
              <a:t>Gender</a:t>
            </a:r>
          </a:p>
          <a:p>
            <a:pPr lvl="0"/>
            <a:r>
              <a:rPr lang="en-IN" sz="1800" dirty="0"/>
              <a:t>Unique Identifier</a:t>
            </a:r>
          </a:p>
          <a:p>
            <a:pPr lvl="0"/>
            <a:r>
              <a:rPr lang="en-IN" sz="1800" dirty="0"/>
              <a:t>Q1 to Q20 for question-wise responses</a:t>
            </a:r>
          </a:p>
          <a:p>
            <a:pPr lvl="0"/>
            <a:r>
              <a:rPr lang="en-IN" sz="1800" dirty="0">
                <a:hlinkClick r:id="rId2"/>
              </a:rPr>
              <a:t>year</a:t>
            </a:r>
            <a:r>
              <a:rPr lang="en-IN" sz="1800" dirty="0"/>
              <a:t> for academic year</a:t>
            </a:r>
          </a:p>
          <a:p>
            <a:pPr lvl="0"/>
            <a:r>
              <a:rPr lang="en-IN" sz="1800" dirty="0"/>
              <a:t>grade for the grade level</a:t>
            </a:r>
          </a:p>
          <a:p>
            <a:r>
              <a:rPr lang="en-IN" sz="1800" b="1" dirty="0"/>
              <a:t>Derived variables</a:t>
            </a:r>
          </a:p>
          <a:p>
            <a:pPr lvl="0"/>
            <a:r>
              <a:rPr lang="en-IN" sz="1800" dirty="0" err="1"/>
              <a:t>total_score</a:t>
            </a:r>
            <a:r>
              <a:rPr lang="en-IN" sz="1800" dirty="0"/>
              <a:t> = sum of all question responses from Q1 to Q20</a:t>
            </a:r>
          </a:p>
          <a:p>
            <a:pPr lvl="0"/>
            <a:r>
              <a:rPr lang="en-IN" sz="1800" dirty="0" err="1"/>
              <a:t>gender_code</a:t>
            </a:r>
            <a:r>
              <a:rPr lang="en-IN" sz="1800" dirty="0"/>
              <a:t> = encoded gender label</a:t>
            </a:r>
          </a:p>
          <a:p>
            <a:pPr lvl="0"/>
            <a:r>
              <a:rPr lang="en-IN" sz="1800" dirty="0" err="1"/>
              <a:t>year_code</a:t>
            </a:r>
            <a:r>
              <a:rPr lang="en-IN" sz="1800" dirty="0"/>
              <a:t> = encoded academic year</a:t>
            </a:r>
          </a:p>
          <a:p>
            <a:pPr lvl="0"/>
            <a:r>
              <a:rPr lang="en-IN" sz="1800" dirty="0" err="1"/>
              <a:t>grade_code</a:t>
            </a:r>
            <a:r>
              <a:rPr lang="en-IN" sz="1800" dirty="0"/>
              <a:t> = encoded grade</a:t>
            </a:r>
          </a:p>
          <a:p>
            <a:pPr lvl="0"/>
            <a:r>
              <a:rPr lang="en-IN" sz="1800" dirty="0" err="1"/>
              <a:t>district_code</a:t>
            </a:r>
            <a:r>
              <a:rPr lang="en-IN" sz="1800" dirty="0"/>
              <a:t>, </a:t>
            </a:r>
            <a:r>
              <a:rPr lang="en-IN" sz="1800" dirty="0" err="1"/>
              <a:t>block_code</a:t>
            </a:r>
            <a:r>
              <a:rPr lang="en-IN" sz="1800" dirty="0"/>
              <a:t>, </a:t>
            </a:r>
            <a:r>
              <a:rPr lang="en-IN" sz="1800" dirty="0" err="1"/>
              <a:t>gp_code</a:t>
            </a:r>
            <a:r>
              <a:rPr lang="en-IN" sz="1800" dirty="0"/>
              <a:t> = encoded geography identifiers used for </a:t>
            </a:r>
            <a:r>
              <a:rPr lang="en-IN" sz="1800" dirty="0" err="1"/>
              <a:t>modeling</a:t>
            </a:r>
            <a:endParaRPr lang="en-IN" sz="1800" dirty="0"/>
          </a:p>
          <a:p>
            <a:pPr defTabSz="457200">
              <a:lnSpc>
                <a:spcPct val="100000"/>
              </a:lnSpc>
            </a:pPr>
            <a:endParaRPr lang="en-IN" sz="1800" dirty="0">
              <a:solidFill>
                <a:srgbClr val="000000"/>
              </a:solidFill>
              <a:latin typeface="Arial"/>
            </a:endParaRPr>
          </a:p>
          <a:p>
            <a:endParaRPr lang="en-IN" sz="1800" dirty="0"/>
          </a:p>
        </p:txBody>
      </p:sp>
    </p:spTree>
    <p:extLst>
      <p:ext uri="{BB962C8B-B14F-4D97-AF65-F5344CB8AC3E}">
        <p14:creationId xmlns:p14="http://schemas.microsoft.com/office/powerpoint/2010/main" val="3198267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36B783B-D8FD-B52D-9494-6B025301C040}"/>
              </a:ext>
            </a:extLst>
          </p:cNvPr>
          <p:cNvSpPr>
            <a:spLocks noGrp="1"/>
          </p:cNvSpPr>
          <p:nvPr>
            <p:ph type="body"/>
          </p:nvPr>
        </p:nvSpPr>
        <p:spPr>
          <a:xfrm>
            <a:off x="441840" y="385320"/>
            <a:ext cx="11491080" cy="6061200"/>
          </a:xfrm>
        </p:spPr>
        <p:txBody>
          <a:bodyPr>
            <a:normAutofit fontScale="77500" lnSpcReduction="20000"/>
          </a:bodyPr>
          <a:lstStyle/>
          <a:p>
            <a:r>
              <a:rPr lang="en-IN" b="1" dirty="0"/>
              <a:t>Derived variables</a:t>
            </a:r>
          </a:p>
          <a:p>
            <a:pPr lvl="0"/>
            <a:r>
              <a:rPr lang="en-IN" dirty="0" err="1"/>
              <a:t>total_score</a:t>
            </a:r>
            <a:r>
              <a:rPr lang="en-IN" dirty="0"/>
              <a:t> = sum of all question responses from Q1 to Q20</a:t>
            </a:r>
          </a:p>
          <a:p>
            <a:pPr lvl="0"/>
            <a:r>
              <a:rPr lang="en-IN" dirty="0" err="1"/>
              <a:t>gender_code</a:t>
            </a:r>
            <a:r>
              <a:rPr lang="en-IN" dirty="0"/>
              <a:t> = encoded gender label</a:t>
            </a:r>
          </a:p>
          <a:p>
            <a:pPr lvl="0"/>
            <a:r>
              <a:rPr lang="en-IN" dirty="0" err="1"/>
              <a:t>year_code</a:t>
            </a:r>
            <a:r>
              <a:rPr lang="en-IN" dirty="0"/>
              <a:t> = encoded academic year</a:t>
            </a:r>
          </a:p>
          <a:p>
            <a:pPr lvl="0"/>
            <a:r>
              <a:rPr lang="en-IN" dirty="0" err="1"/>
              <a:t>grade_code</a:t>
            </a:r>
            <a:r>
              <a:rPr lang="en-IN" dirty="0"/>
              <a:t> = encoded grade</a:t>
            </a:r>
          </a:p>
          <a:p>
            <a:pPr lvl="0"/>
            <a:r>
              <a:rPr lang="en-IN" dirty="0" err="1"/>
              <a:t>district_code</a:t>
            </a:r>
            <a:r>
              <a:rPr lang="en-IN" dirty="0"/>
              <a:t>, </a:t>
            </a:r>
            <a:r>
              <a:rPr lang="en-IN" dirty="0" err="1"/>
              <a:t>block_code</a:t>
            </a:r>
            <a:r>
              <a:rPr lang="en-IN" dirty="0"/>
              <a:t>, </a:t>
            </a:r>
            <a:r>
              <a:rPr lang="en-IN" dirty="0" err="1"/>
              <a:t>gp_code</a:t>
            </a:r>
            <a:r>
              <a:rPr lang="en-IN" dirty="0"/>
              <a:t> = encoded geography identifiers used for </a:t>
            </a:r>
            <a:r>
              <a:rPr lang="en-IN" dirty="0" err="1"/>
              <a:t>modeling</a:t>
            </a:r>
            <a:endParaRPr lang="en-IN" dirty="0"/>
          </a:p>
          <a:p>
            <a:endParaRPr lang="en-IN" dirty="0"/>
          </a:p>
          <a:p>
            <a:r>
              <a:rPr lang="en-IN" dirty="0"/>
              <a:t>These variables are what make the dashboard capable of:</a:t>
            </a:r>
          </a:p>
          <a:p>
            <a:pPr lvl="0"/>
            <a:r>
              <a:rPr lang="en-IN" dirty="0"/>
              <a:t>year-wise comparisons,</a:t>
            </a:r>
          </a:p>
          <a:p>
            <a:pPr lvl="0"/>
            <a:r>
              <a:rPr lang="en-IN" dirty="0"/>
              <a:t>region-wise benchmarking,</a:t>
            </a:r>
          </a:p>
          <a:p>
            <a:pPr lvl="0"/>
            <a:r>
              <a:rPr lang="en-IN" dirty="0"/>
              <a:t>gender comparison,</a:t>
            </a:r>
          </a:p>
          <a:p>
            <a:pPr lvl="0"/>
            <a:r>
              <a:rPr lang="en-IN" dirty="0"/>
              <a:t>question-level diagnostics,</a:t>
            </a:r>
          </a:p>
          <a:p>
            <a:pPr lvl="0"/>
            <a:r>
              <a:rPr lang="en-IN" dirty="0"/>
              <a:t>and model-based prediction.</a:t>
            </a:r>
          </a:p>
          <a:p>
            <a:r>
              <a:rPr lang="en-IN" dirty="0"/>
              <a:t>If you want, I can also give you:</a:t>
            </a:r>
          </a:p>
          <a:p>
            <a:pPr lvl="0"/>
            <a:r>
              <a:rPr lang="en-IN" dirty="0"/>
              <a:t>a short variable list for the report,</a:t>
            </a:r>
          </a:p>
          <a:p>
            <a:pPr lvl="0"/>
            <a:r>
              <a:rPr lang="en-IN" dirty="0"/>
              <a:t>a definitions list for all variables,</a:t>
            </a:r>
          </a:p>
          <a:p>
            <a:pPr lvl="0"/>
            <a:r>
              <a:rPr lang="en-IN" dirty="0"/>
              <a:t>or a </a:t>
            </a:r>
            <a:r>
              <a:rPr lang="en-IN" dirty="0" err="1"/>
              <a:t>modeling</a:t>
            </a:r>
            <a:r>
              <a:rPr lang="en-IN" dirty="0"/>
              <a:t>-feature list.</a:t>
            </a:r>
          </a:p>
          <a:p>
            <a:endParaRPr lang="en-IN" dirty="0"/>
          </a:p>
        </p:txBody>
      </p:sp>
    </p:spTree>
    <p:extLst>
      <p:ext uri="{BB962C8B-B14F-4D97-AF65-F5344CB8AC3E}">
        <p14:creationId xmlns:p14="http://schemas.microsoft.com/office/powerpoint/2010/main" val="1274739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9AA694-E584-948B-09AB-464B0FC24BCC}"/>
              </a:ext>
            </a:extLst>
          </p:cNvPr>
          <p:cNvSpPr>
            <a:spLocks noGrp="1"/>
          </p:cNvSpPr>
          <p:nvPr>
            <p:ph type="body"/>
          </p:nvPr>
        </p:nvSpPr>
        <p:spPr>
          <a:xfrm>
            <a:off x="609780" y="507240"/>
            <a:ext cx="11277420" cy="5954520"/>
          </a:xfrm>
        </p:spPr>
        <p:txBody>
          <a:bodyPr>
            <a:normAutofit/>
          </a:bodyPr>
          <a:lstStyle/>
          <a:p>
            <a:pPr defTabSz="457200">
              <a:lnSpc>
                <a:spcPct val="100000"/>
              </a:lnSpc>
            </a:pPr>
            <a:r>
              <a:rPr lang="en-US" sz="2600" dirty="0">
                <a:solidFill>
                  <a:schemeClr val="dk1"/>
                </a:solidFill>
              </a:rPr>
              <a:t> </a:t>
            </a:r>
            <a:r>
              <a:rPr lang="en-US" sz="2600" b="1" dirty="0">
                <a:solidFill>
                  <a:schemeClr val="dk1"/>
                </a:solidFill>
              </a:rPr>
              <a:t>Cleaning: </a:t>
            </a:r>
            <a:r>
              <a:rPr lang="en-IN" sz="2600" dirty="0"/>
              <a:t>Without cleaning, the dashboard would show inconsistent results, incorrect averages, and unstable predictive models. Cleaning is what makes the analysis reliable and comparable across years and regions.</a:t>
            </a:r>
            <a:endParaRPr lang="en-IN" sz="2600" dirty="0">
              <a:solidFill>
                <a:srgbClr val="000000"/>
              </a:solidFill>
              <a:latin typeface="Arial"/>
            </a:endParaRPr>
          </a:p>
          <a:p>
            <a:pPr defTabSz="457200">
              <a:lnSpc>
                <a:spcPct val="100000"/>
              </a:lnSpc>
            </a:pPr>
            <a:r>
              <a:rPr lang="en-US" sz="2600" b="1" dirty="0">
                <a:solidFill>
                  <a:schemeClr val="dk1"/>
                </a:solidFill>
              </a:rPr>
              <a:t> Assumptions:</a:t>
            </a:r>
          </a:p>
          <a:p>
            <a:pPr lvl="0"/>
            <a:r>
              <a:rPr lang="en-IN" sz="2600" dirty="0"/>
              <a:t>The workbook files follow a consistent structure across all three academic years.</a:t>
            </a:r>
          </a:p>
          <a:p>
            <a:pPr lvl="0"/>
            <a:r>
              <a:rPr lang="en-IN" sz="2600" dirty="0"/>
              <a:t>The Q1 to Q20 columns represent the main assessment response variables.</a:t>
            </a:r>
          </a:p>
          <a:p>
            <a:pPr lvl="0"/>
            <a:r>
              <a:rPr lang="en-IN" sz="2600" dirty="0"/>
              <a:t>Missing or blank values in question fields can be safely treated as zero for scoring purposes.</a:t>
            </a:r>
          </a:p>
          <a:p>
            <a:pPr lvl="0"/>
            <a:r>
              <a:rPr lang="en-IN" sz="2600" dirty="0"/>
              <a:t>Gender values are standardized enough to support demographic comparison.</a:t>
            </a:r>
          </a:p>
          <a:p>
            <a:pPr lvl="0"/>
            <a:r>
              <a:rPr lang="en-IN" sz="2600" dirty="0"/>
              <a:t>The GP ID and geography fields are reliable identifiers for benchmarking and filtering.</a:t>
            </a:r>
          </a:p>
          <a:p>
            <a:pPr lvl="0"/>
            <a:r>
              <a:rPr lang="en-IN" sz="2600" dirty="0"/>
              <a:t>The dashboard is intended for educational decision support, not as a formal academic evaluation model.</a:t>
            </a:r>
          </a:p>
          <a:p>
            <a:pPr defTabSz="457200">
              <a:lnSpc>
                <a:spcPct val="100000"/>
              </a:lnSpc>
            </a:pPr>
            <a:endParaRPr lang="en-IN" dirty="0">
              <a:solidFill>
                <a:srgbClr val="000000"/>
              </a:solidFill>
              <a:latin typeface="Arial"/>
            </a:endParaRPr>
          </a:p>
          <a:p>
            <a:endParaRPr lang="en-IN" dirty="0"/>
          </a:p>
        </p:txBody>
      </p:sp>
    </p:spTree>
    <p:extLst>
      <p:ext uri="{BB962C8B-B14F-4D97-AF65-F5344CB8AC3E}">
        <p14:creationId xmlns:p14="http://schemas.microsoft.com/office/powerpoint/2010/main" val="4011394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Analytical Approach</a:t>
            </a:r>
            <a:br>
              <a:rPr sz="4400" dirty="0"/>
            </a:br>
            <a:endParaRPr lang="en-US" sz="4400" b="0" u="none" strike="noStrike" dirty="0">
              <a:solidFill>
                <a:schemeClr val="dk1"/>
              </a:solidFill>
              <a:effectLst/>
              <a:uFillTx/>
              <a:latin typeface="Calibri"/>
            </a:endParaRPr>
          </a:p>
        </p:txBody>
      </p:sp>
      <p:sp>
        <p:nvSpPr>
          <p:cNvPr id="67" name="TextBox 4"/>
          <p:cNvSpPr/>
          <p:nvPr/>
        </p:nvSpPr>
        <p:spPr>
          <a:xfrm>
            <a:off x="624840" y="1097280"/>
            <a:ext cx="10080093" cy="31686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0" u="none" strike="noStrike" dirty="0">
                <a:solidFill>
                  <a:schemeClr val="dk1"/>
                </a:solidFill>
                <a:effectLst/>
                <a:uFillTx/>
                <a:latin typeface="Calibri"/>
              </a:rPr>
              <a:t>• Workflow : </a:t>
            </a:r>
          </a:p>
          <a:p>
            <a:r>
              <a:rPr lang="en-IN" dirty="0"/>
              <a:t>The workflow for this project follows a simple evidence-based pipeline:</a:t>
            </a:r>
          </a:p>
          <a:p>
            <a:pPr marL="285750" lvl="0" indent="-285750">
              <a:buFont typeface="Arial" panose="020B0604020202020204" pitchFamily="34" charset="0"/>
              <a:buChar char="•"/>
            </a:pPr>
            <a:r>
              <a:rPr lang="en-IN" dirty="0"/>
              <a:t>Load the workbook files year-wise and remove non-useful temporary files.</a:t>
            </a:r>
          </a:p>
          <a:p>
            <a:pPr marL="285750" lvl="0" indent="-285750">
              <a:buFont typeface="Arial" panose="020B0604020202020204" pitchFamily="34" charset="0"/>
              <a:buChar char="•"/>
            </a:pPr>
            <a:r>
              <a:rPr lang="en-IN" dirty="0"/>
              <a:t>Clean and standardize the dataset fields such as geography, gender, and question responses.</a:t>
            </a:r>
          </a:p>
          <a:p>
            <a:pPr marL="285750" lvl="0" indent="-285750">
              <a:buFont typeface="Arial" panose="020B0604020202020204" pitchFamily="34" charset="0"/>
              <a:buChar char="•"/>
            </a:pPr>
            <a:r>
              <a:rPr lang="en-IN" dirty="0"/>
              <a:t>Derive key indicators like total score, average score, participation counts, and question-wise averages.</a:t>
            </a:r>
          </a:p>
          <a:p>
            <a:pPr marL="285750" lvl="0" indent="-285750">
              <a:buFont typeface="Arial" panose="020B0604020202020204" pitchFamily="34" charset="0"/>
              <a:buChar char="•"/>
            </a:pPr>
            <a:r>
              <a:rPr lang="en-IN" dirty="0"/>
              <a:t>Slice the data using filters such as year, grade, district, block, GP ID, and gender.</a:t>
            </a:r>
          </a:p>
          <a:p>
            <a:pPr marL="285750" lvl="0" indent="-285750">
              <a:buFont typeface="Arial" panose="020B0604020202020204" pitchFamily="34" charset="0"/>
              <a:buChar char="•"/>
            </a:pPr>
            <a:r>
              <a:rPr lang="en-IN" dirty="0"/>
              <a:t>Generate trend and comparison views for performance across years and geographies.</a:t>
            </a:r>
          </a:p>
          <a:p>
            <a:pPr marL="285750" lvl="0" indent="-285750">
              <a:buFont typeface="Arial" panose="020B0604020202020204" pitchFamily="34" charset="0"/>
              <a:buChar char="•"/>
            </a:pPr>
            <a:r>
              <a:rPr lang="en-IN" dirty="0"/>
              <a:t>Identify weak competency areas and low-performing question segments.</a:t>
            </a:r>
          </a:p>
          <a:p>
            <a:pPr marL="285750" lvl="0" indent="-285750">
              <a:buFont typeface="Arial" panose="020B0604020202020204" pitchFamily="34" charset="0"/>
              <a:buChar char="•"/>
            </a:pPr>
            <a:r>
              <a:rPr lang="en-IN" dirty="0"/>
              <a:t>Build predictive models such as Random Forest and Logistic Regression for evidence-backed forecasting.</a:t>
            </a:r>
          </a:p>
          <a:p>
            <a:pPr marL="285750" lvl="0" indent="-285750">
              <a:buFont typeface="Arial" panose="020B0604020202020204" pitchFamily="34" charset="0"/>
              <a:buChar char="•"/>
            </a:pPr>
            <a:r>
              <a:rPr lang="en-IN" dirty="0"/>
              <a:t>Translate the findings into clear insights and recommendations for report and presentation use.</a:t>
            </a:r>
          </a:p>
        </p:txBody>
      </p:sp>
      <p:sp>
        <p:nvSpPr>
          <p:cNvPr id="68"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AC04E3-490B-A27C-C802-88AEA44B3F3A}"/>
              </a:ext>
            </a:extLst>
          </p:cNvPr>
          <p:cNvSpPr>
            <a:spLocks noGrp="1"/>
          </p:cNvSpPr>
          <p:nvPr>
            <p:ph type="body"/>
          </p:nvPr>
        </p:nvSpPr>
        <p:spPr>
          <a:xfrm>
            <a:off x="457200" y="426720"/>
            <a:ext cx="11582400" cy="6141720"/>
          </a:xfrm>
        </p:spPr>
        <p:txBody>
          <a:bodyPr/>
          <a:lstStyle/>
          <a:p>
            <a:pPr marL="0" indent="0">
              <a:buNone/>
            </a:pPr>
            <a:r>
              <a:rPr lang="en-US" sz="2400" b="1" dirty="0">
                <a:solidFill>
                  <a:schemeClr val="dk1"/>
                </a:solidFill>
              </a:rPr>
              <a:t>Methods</a:t>
            </a:r>
          </a:p>
          <a:p>
            <a:r>
              <a:rPr lang="en-IN" sz="2400" dirty="0"/>
              <a:t>The project uses a practical analytical workflow built around data preprocessing, exploration, and predictive </a:t>
            </a:r>
            <a:r>
              <a:rPr lang="en-IN" sz="2400" dirty="0" err="1"/>
              <a:t>modeling</a:t>
            </a:r>
            <a:r>
              <a:rPr lang="en-IN" sz="2400" dirty="0"/>
              <a:t>:</a:t>
            </a:r>
          </a:p>
          <a:p>
            <a:pPr lvl="0"/>
            <a:r>
              <a:rPr lang="en-IN" sz="2400" dirty="0"/>
              <a:t>Data ingestion</a:t>
            </a:r>
          </a:p>
          <a:p>
            <a:pPr lvl="1"/>
            <a:r>
              <a:rPr lang="en-IN" dirty="0"/>
              <a:t>Read the workbook files from the year folders using </a:t>
            </a:r>
            <a:r>
              <a:rPr lang="en-IN" dirty="0" err="1">
                <a:hlinkClick r:id="rId2"/>
              </a:rPr>
              <a:t>openpyxl</a:t>
            </a:r>
            <a:r>
              <a:rPr lang="en-IN" dirty="0"/>
              <a:t>.</a:t>
            </a:r>
          </a:p>
          <a:p>
            <a:pPr lvl="0"/>
            <a:r>
              <a:rPr lang="en-IN" sz="2400" dirty="0"/>
              <a:t>Data cleaning and standardization</a:t>
            </a:r>
          </a:p>
          <a:p>
            <a:pPr lvl="1"/>
            <a:r>
              <a:rPr lang="en-IN" dirty="0"/>
              <a:t>Normalize text labels, remove temporary lock files, convert question columns to numeric values, and create derived fields such as total score and encoded demographic/geography variables.</a:t>
            </a:r>
          </a:p>
          <a:p>
            <a:pPr lvl="0"/>
            <a:r>
              <a:rPr lang="en-IN" sz="2400" dirty="0"/>
              <a:t>Descriptive analysis</a:t>
            </a:r>
          </a:p>
          <a:p>
            <a:pPr lvl="1"/>
            <a:r>
              <a:rPr lang="en-IN" dirty="0"/>
              <a:t>Compute year-wise student counts, average scores, gender distribution, and question-wise averages.</a:t>
            </a:r>
          </a:p>
          <a:p>
            <a:pPr lvl="0"/>
            <a:r>
              <a:rPr lang="en-IN" sz="2400" dirty="0"/>
              <a:t>Comparative analytics</a:t>
            </a:r>
          </a:p>
          <a:p>
            <a:pPr lvl="1"/>
            <a:r>
              <a:rPr lang="en-IN" dirty="0"/>
              <a:t>Compare performance across district, block, GP ID, grade, and gender using filtered summaries.</a:t>
            </a:r>
          </a:p>
          <a:p>
            <a:pPr marL="457200" lvl="1" indent="0">
              <a:buNone/>
            </a:pPr>
            <a:endParaRPr lang="en-IN" dirty="0"/>
          </a:p>
          <a:p>
            <a:pPr marL="0" indent="0">
              <a:buNone/>
            </a:pPr>
            <a:endParaRPr lang="en-IN" dirty="0">
              <a:solidFill>
                <a:srgbClr val="000000"/>
              </a:solidFill>
              <a:latin typeface="Arial"/>
            </a:endParaRPr>
          </a:p>
          <a:p>
            <a:endParaRPr lang="en-IN" dirty="0"/>
          </a:p>
        </p:txBody>
      </p:sp>
    </p:spTree>
    <p:extLst>
      <p:ext uri="{BB962C8B-B14F-4D97-AF65-F5344CB8AC3E}">
        <p14:creationId xmlns:p14="http://schemas.microsoft.com/office/powerpoint/2010/main" val="1337698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6A54194-0892-F133-E950-4EB5FEF5DA27}"/>
              </a:ext>
            </a:extLst>
          </p:cNvPr>
          <p:cNvSpPr>
            <a:spLocks noGrp="1"/>
          </p:cNvSpPr>
          <p:nvPr>
            <p:ph type="body"/>
          </p:nvPr>
        </p:nvSpPr>
        <p:spPr>
          <a:xfrm>
            <a:off x="457200" y="533400"/>
            <a:ext cx="11521440" cy="5958840"/>
          </a:xfrm>
        </p:spPr>
        <p:txBody>
          <a:bodyPr/>
          <a:lstStyle/>
          <a:p>
            <a:pPr lvl="0"/>
            <a:r>
              <a:rPr lang="en-IN" sz="2400" dirty="0"/>
              <a:t>Diagnostic analysis</a:t>
            </a:r>
          </a:p>
          <a:p>
            <a:pPr lvl="1"/>
            <a:r>
              <a:rPr lang="en-IN" dirty="0"/>
              <a:t>Identify the weakest question areas and competency groups to highlight intervention opportunities.</a:t>
            </a:r>
          </a:p>
          <a:p>
            <a:pPr lvl="0"/>
            <a:r>
              <a:rPr lang="en-IN" sz="2400" dirty="0"/>
              <a:t>Predictive </a:t>
            </a:r>
            <a:r>
              <a:rPr lang="en-IN" sz="2400" dirty="0" err="1"/>
              <a:t>modeling</a:t>
            </a:r>
            <a:endParaRPr lang="en-IN" sz="2400" dirty="0"/>
          </a:p>
          <a:p>
            <a:pPr lvl="1"/>
            <a:r>
              <a:rPr lang="en-IN" dirty="0"/>
              <a:t>Use Random Forest Regressor for score prediction and Random Forest / Logistic Regression for classification-style performance checks.</a:t>
            </a:r>
          </a:p>
          <a:p>
            <a:pPr lvl="0"/>
            <a:r>
              <a:rPr lang="en-IN" sz="2400" dirty="0"/>
              <a:t>Dashboard delivery</a:t>
            </a:r>
          </a:p>
          <a:p>
            <a:pPr lvl="1"/>
            <a:r>
              <a:rPr lang="en-IN" dirty="0"/>
              <a:t>Present the findings through a </a:t>
            </a:r>
            <a:r>
              <a:rPr lang="en-IN" dirty="0" err="1"/>
              <a:t>Streamlit</a:t>
            </a:r>
            <a:r>
              <a:rPr lang="en-IN" dirty="0"/>
              <a:t> interface for interactive exploration.</a:t>
            </a:r>
            <a:r>
              <a:rPr lang="en-US" dirty="0">
                <a:solidFill>
                  <a:schemeClr val="dk1"/>
                </a:solidFill>
              </a:rPr>
              <a:t> </a:t>
            </a:r>
          </a:p>
          <a:p>
            <a:pPr marL="457200" lvl="1" indent="0">
              <a:buNone/>
            </a:pPr>
            <a:endParaRPr lang="en-US" dirty="0">
              <a:solidFill>
                <a:schemeClr val="dk1"/>
              </a:solidFill>
            </a:endParaRPr>
          </a:p>
          <a:p>
            <a:pPr marL="457200" lvl="1" indent="0">
              <a:buNone/>
            </a:pPr>
            <a:r>
              <a:rPr lang="en-US" b="1" dirty="0">
                <a:solidFill>
                  <a:schemeClr val="dk1"/>
                </a:solidFill>
              </a:rPr>
              <a:t>Validation</a:t>
            </a:r>
          </a:p>
          <a:p>
            <a:pPr lvl="0"/>
            <a:r>
              <a:rPr lang="en-IN" sz="2400" dirty="0"/>
              <a:t>Data validation</a:t>
            </a:r>
          </a:p>
          <a:p>
            <a:pPr lvl="1"/>
            <a:r>
              <a:rPr lang="en-IN" dirty="0"/>
              <a:t>Confirm that all required fields such as District, Block, GP ID, Gender, and Q1 to Q20 are present in the workbook schema before analysis.</a:t>
            </a:r>
          </a:p>
          <a:p>
            <a:pPr marL="457200" lvl="1" indent="0">
              <a:buNone/>
            </a:pPr>
            <a:endParaRPr lang="en-IN" dirty="0">
              <a:solidFill>
                <a:srgbClr val="000000"/>
              </a:solidFill>
              <a:latin typeface="Arial"/>
            </a:endParaRPr>
          </a:p>
          <a:p>
            <a:pPr marL="457200" lvl="1" indent="0">
              <a:buNone/>
            </a:pPr>
            <a:endParaRPr lang="en-IN" dirty="0"/>
          </a:p>
          <a:p>
            <a:pPr marL="457200" lvl="1" indent="0">
              <a:buNone/>
            </a:pPr>
            <a:endParaRPr lang="en-IN" dirty="0"/>
          </a:p>
          <a:p>
            <a:pPr marL="0" indent="0">
              <a:buNone/>
            </a:pPr>
            <a:endParaRPr lang="en-IN" dirty="0">
              <a:solidFill>
                <a:srgbClr val="000000"/>
              </a:solidFill>
              <a:latin typeface="Arial"/>
            </a:endParaRPr>
          </a:p>
          <a:p>
            <a:endParaRPr lang="en-IN" dirty="0"/>
          </a:p>
        </p:txBody>
      </p:sp>
    </p:spTree>
    <p:extLst>
      <p:ext uri="{BB962C8B-B14F-4D97-AF65-F5344CB8AC3E}">
        <p14:creationId xmlns:p14="http://schemas.microsoft.com/office/powerpoint/2010/main" val="207757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B0318A-4585-0409-71A3-A280E915BF3F}"/>
              </a:ext>
            </a:extLst>
          </p:cNvPr>
          <p:cNvSpPr>
            <a:spLocks noGrp="1"/>
          </p:cNvSpPr>
          <p:nvPr>
            <p:ph type="body"/>
          </p:nvPr>
        </p:nvSpPr>
        <p:spPr>
          <a:xfrm>
            <a:off x="457200" y="228600"/>
            <a:ext cx="11490960" cy="5897160"/>
          </a:xfrm>
        </p:spPr>
        <p:txBody>
          <a:bodyPr/>
          <a:lstStyle/>
          <a:p>
            <a:pPr lvl="0"/>
            <a:r>
              <a:rPr lang="en-IN" sz="2400" dirty="0"/>
              <a:t>Quality validation</a:t>
            </a:r>
          </a:p>
          <a:p>
            <a:pPr lvl="1"/>
            <a:r>
              <a:rPr lang="en-IN" dirty="0"/>
              <a:t>Check for missing values, invalid entries, and inconsistent naming in geography and gender variables, then clean them before </a:t>
            </a:r>
            <a:r>
              <a:rPr lang="en-IN" dirty="0" err="1"/>
              <a:t>modeling</a:t>
            </a:r>
            <a:r>
              <a:rPr lang="en-IN" dirty="0"/>
              <a:t>.</a:t>
            </a:r>
          </a:p>
          <a:p>
            <a:pPr lvl="0"/>
            <a:r>
              <a:rPr lang="en-IN" sz="2400" dirty="0"/>
              <a:t>Model validation</a:t>
            </a:r>
          </a:p>
          <a:p>
            <a:pPr lvl="1"/>
            <a:r>
              <a:rPr lang="en-IN" dirty="0"/>
              <a:t>Use train-test splitting and measure model reliability through metrics such as MAE and classification accuracy to ensure the predictive output is meaningful.</a:t>
            </a:r>
          </a:p>
          <a:p>
            <a:pPr lvl="0"/>
            <a:r>
              <a:rPr lang="en-IN" sz="2400" dirty="0"/>
              <a:t>Business/insight validation</a:t>
            </a:r>
          </a:p>
          <a:p>
            <a:pPr lvl="1"/>
            <a:r>
              <a:rPr lang="en-IN" dirty="0"/>
              <a:t>Verify that the final insights align with the actual dataset facts, such as year trends, question weakness, and strong/weak geography performance, rather than just model output.</a:t>
            </a:r>
          </a:p>
          <a:p>
            <a:endParaRPr lang="en-IN" dirty="0"/>
          </a:p>
        </p:txBody>
      </p:sp>
    </p:spTree>
    <p:extLst>
      <p:ext uri="{BB962C8B-B14F-4D97-AF65-F5344CB8AC3E}">
        <p14:creationId xmlns:p14="http://schemas.microsoft.com/office/powerpoint/2010/main" val="2766164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609600" y="393859"/>
            <a:ext cx="10850880" cy="1343501"/>
          </a:xfrm>
          <a:prstGeom prst="rect">
            <a:avLst/>
          </a:prstGeom>
          <a:noFill/>
          <a:ln w="0">
            <a:noFill/>
          </a:ln>
        </p:spPr>
        <p:txBody>
          <a:bodyPr lIns="91440" tIns="45720" rIns="91440" bIns="45720" anchor="ctr">
            <a:noAutofit/>
          </a:bodyPr>
          <a:lstStyle/>
          <a:p>
            <a:pPr algn="ctr" defTabSz="457200">
              <a:lnSpc>
                <a:spcPct val="100000"/>
              </a:lnSpc>
            </a:pPr>
            <a:r>
              <a:rPr lang="en-US" sz="4000" b="0" u="none" strike="noStrike" dirty="0">
                <a:solidFill>
                  <a:schemeClr val="dk1"/>
                </a:solidFill>
                <a:effectLst/>
                <a:uFillTx/>
                <a:latin typeface="Calibri"/>
              </a:rPr>
              <a:t>Key Insight 1:</a:t>
            </a:r>
            <a:r>
              <a:rPr lang="en-IN" sz="4000" b="1" dirty="0"/>
              <a:t> </a:t>
            </a:r>
            <a:r>
              <a:rPr lang="en-IN" sz="4000" dirty="0"/>
              <a:t>Year-wise Performance and Participation Analysis.</a:t>
            </a:r>
            <a:br>
              <a:rPr sz="4000" dirty="0"/>
            </a:br>
            <a:endParaRPr lang="en-US" sz="4000" u="none" strike="noStrike" dirty="0">
              <a:solidFill>
                <a:schemeClr val="dk1"/>
              </a:solidFill>
              <a:effectLst/>
              <a:uFillTx/>
              <a:latin typeface="Calibri"/>
            </a:endParaRPr>
          </a:p>
        </p:txBody>
      </p:sp>
      <p:sp>
        <p:nvSpPr>
          <p:cNvPr id="69" name="TextBox 4"/>
          <p:cNvSpPr/>
          <p:nvPr/>
        </p:nvSpPr>
        <p:spPr>
          <a:xfrm>
            <a:off x="731520" y="1097280"/>
            <a:ext cx="11201400" cy="538463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IN" sz="2000" b="1" dirty="0"/>
              <a:t>Evidence</a:t>
            </a:r>
          </a:p>
          <a:p>
            <a:pPr lvl="0"/>
            <a:r>
              <a:rPr lang="en-IN" sz="2000" dirty="0"/>
              <a:t>Student participation increased consistently from </a:t>
            </a:r>
            <a:r>
              <a:rPr lang="en-IN" sz="2000" b="1" dirty="0"/>
              <a:t>312,702 (2022–23)</a:t>
            </a:r>
            <a:r>
              <a:rPr lang="en-IN" sz="2000" dirty="0"/>
              <a:t> to </a:t>
            </a:r>
            <a:r>
              <a:rPr lang="en-IN" sz="2000" b="1" dirty="0"/>
              <a:t>470,857 (2023–24)</a:t>
            </a:r>
            <a:r>
              <a:rPr lang="en-IN" sz="2000" dirty="0"/>
              <a:t> and </a:t>
            </a:r>
            <a:r>
              <a:rPr lang="en-IN" sz="2000" b="1" dirty="0"/>
              <a:t>595,528 (2024–25)</a:t>
            </a:r>
            <a:r>
              <a:rPr lang="en-IN" sz="2000" dirty="0"/>
              <a:t>. </a:t>
            </a:r>
          </a:p>
          <a:p>
            <a:pPr lvl="0"/>
            <a:r>
              <a:rPr lang="en-IN" sz="2000" dirty="0"/>
              <a:t>The average score was </a:t>
            </a:r>
            <a:r>
              <a:rPr lang="en-IN" sz="2000" b="1" dirty="0"/>
              <a:t>11.18</a:t>
            </a:r>
            <a:r>
              <a:rPr lang="en-IN" sz="2000" dirty="0"/>
              <a:t> in 2022–23, decreased to </a:t>
            </a:r>
            <a:r>
              <a:rPr lang="en-IN" sz="2000" b="1" dirty="0"/>
              <a:t>10.24</a:t>
            </a:r>
            <a:r>
              <a:rPr lang="en-IN" sz="2000" dirty="0"/>
              <a:t> in 2023–24, and improved slightly to </a:t>
            </a:r>
            <a:r>
              <a:rPr lang="en-IN" sz="2000" b="1" dirty="0"/>
              <a:t>10.62</a:t>
            </a:r>
            <a:r>
              <a:rPr lang="en-IN" sz="2000" dirty="0"/>
              <a:t> in 2024–25, while female participation remained higher than male participation in all three years. </a:t>
            </a:r>
          </a:p>
          <a:p>
            <a:r>
              <a:rPr lang="en-IN" sz="2000" b="1" dirty="0"/>
              <a:t>Findings</a:t>
            </a:r>
          </a:p>
          <a:p>
            <a:pPr lvl="0"/>
            <a:r>
              <a:rPr lang="en-IN" sz="2000" dirty="0"/>
              <a:t>Student </a:t>
            </a:r>
            <a:r>
              <a:rPr lang="en-IN" sz="2000" dirty="0" err="1"/>
              <a:t>enrollment</a:t>
            </a:r>
            <a:r>
              <a:rPr lang="en-IN" sz="2000" dirty="0"/>
              <a:t> and participation increased every academic year, indicating broader coverage of the assessment. </a:t>
            </a:r>
          </a:p>
          <a:p>
            <a:pPr lvl="0"/>
            <a:r>
              <a:rPr lang="en-IN" sz="2000" dirty="0"/>
              <a:t>Despite higher participation, average performance did not improve proportionally, and question-wise averages varied across years, showing differences in competency across assessed skills</a:t>
            </a:r>
            <a:r>
              <a:rPr lang="en-IN" sz="2400" dirty="0"/>
              <a:t>. </a:t>
            </a:r>
          </a:p>
          <a:p>
            <a:r>
              <a:rPr lang="en-IN" sz="2000" b="1" dirty="0"/>
              <a:t>Interpretation</a:t>
            </a:r>
          </a:p>
          <a:p>
            <a:pPr lvl="0"/>
            <a:r>
              <a:rPr lang="en-IN" sz="2000" dirty="0"/>
              <a:t>The education system successfully reached more students over time, but maintaining learning outcomes as participation grew appears to be a continuing challenge. This interpretation follows from the increase in participation alongside relatively stable average scores. </a:t>
            </a:r>
          </a:p>
          <a:p>
            <a:pPr lvl="0"/>
            <a:r>
              <a:rPr lang="en-IN" sz="2000" dirty="0"/>
              <a:t>The variation in question-wise performance suggests that some competencies were consistently stronger than others, indicating areas where targeted instructional support may be beneficial</a:t>
            </a:r>
          </a:p>
          <a:p>
            <a:pPr defTabSz="457200">
              <a:lnSpc>
                <a:spcPct val="100000"/>
              </a:lnSpc>
            </a:pPr>
            <a:endParaRPr lang="en-IN" sz="2000" b="0" u="none" strike="noStrike" dirty="0">
              <a:solidFill>
                <a:srgbClr val="000000"/>
              </a:solidFill>
              <a:effectLst/>
              <a:uFillTx/>
              <a:latin typeface="Arial"/>
            </a:endParaRPr>
          </a:p>
        </p:txBody>
      </p:sp>
      <p:sp>
        <p:nvSpPr>
          <p:cNvPr id="70"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1828800" y="226080"/>
            <a:ext cx="9631680" cy="1099800"/>
          </a:xfrm>
          <a:prstGeom prst="rect">
            <a:avLst/>
          </a:prstGeom>
          <a:noFill/>
          <a:ln w="0">
            <a:noFill/>
          </a:ln>
        </p:spPr>
        <p:txBody>
          <a:bodyPr lIns="91440" tIns="45720" rIns="91440" bIns="45720" anchor="ctr">
            <a:normAutofit fontScale="90000"/>
          </a:bodyPr>
          <a:lstStyle/>
          <a:p>
            <a:pPr algn="ctr" defTabSz="457200">
              <a:lnSpc>
                <a:spcPct val="100000"/>
              </a:lnSpc>
            </a:pPr>
            <a:r>
              <a:rPr lang="en-US" sz="4400" b="0" u="none" strike="noStrike" dirty="0">
                <a:solidFill>
                  <a:schemeClr val="dk1"/>
                </a:solidFill>
                <a:effectLst/>
                <a:uFillTx/>
                <a:latin typeface="Calibri"/>
              </a:rPr>
              <a:t>Key Insight 2:</a:t>
            </a:r>
            <a:r>
              <a:rPr lang="en-IN" sz="4400" b="0" u="none" strike="noStrike" dirty="0">
                <a:solidFill>
                  <a:schemeClr val="dk1"/>
                </a:solidFill>
                <a:effectLst/>
                <a:uFillTx/>
                <a:latin typeface="Calibri"/>
              </a:rPr>
              <a:t> </a:t>
            </a:r>
            <a:r>
              <a:rPr lang="en-IN" dirty="0"/>
              <a:t>Gender-wise Participation</a:t>
            </a:r>
            <a:br>
              <a:rPr sz="4400" dirty="0"/>
            </a:br>
            <a:endParaRPr lang="en-US" sz="4400" b="0" u="none" strike="noStrike" dirty="0">
              <a:solidFill>
                <a:schemeClr val="dk1"/>
              </a:solidFill>
              <a:effectLst/>
              <a:uFillTx/>
              <a:latin typeface="Calibri"/>
            </a:endParaRPr>
          </a:p>
        </p:txBody>
      </p:sp>
      <p:sp>
        <p:nvSpPr>
          <p:cNvPr id="71" name="TextBox 4"/>
          <p:cNvSpPr/>
          <p:nvPr/>
        </p:nvSpPr>
        <p:spPr>
          <a:xfrm>
            <a:off x="731520" y="1097280"/>
            <a:ext cx="10454640" cy="501530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IN" sz="2000" b="1" dirty="0"/>
              <a:t>Evidence</a:t>
            </a:r>
            <a:endParaRPr lang="en-IN" sz="2000" dirty="0"/>
          </a:p>
          <a:p>
            <a:pPr lvl="0"/>
            <a:r>
              <a:rPr lang="en-IN" sz="2000" dirty="0"/>
              <a:t>Female participation was consistently higher than male participation in all three academic years. </a:t>
            </a:r>
          </a:p>
          <a:p>
            <a:pPr lvl="0"/>
            <a:r>
              <a:rPr lang="en-IN" sz="2000" dirty="0"/>
              <a:t>The number of both female and male participants increased from 2022–23 to 2024–25, reflecting broader participation across years. </a:t>
            </a:r>
          </a:p>
          <a:p>
            <a:r>
              <a:rPr lang="en-IN" sz="2000" b="1" dirty="0"/>
              <a:t>Findings</a:t>
            </a:r>
            <a:endParaRPr lang="en-IN" sz="2000" dirty="0"/>
          </a:p>
          <a:p>
            <a:pPr lvl="0"/>
            <a:r>
              <a:rPr lang="en-IN" sz="2000" dirty="0"/>
              <a:t>Female students formed the larger share of participants throughout the study period. </a:t>
            </a:r>
          </a:p>
          <a:p>
            <a:pPr lvl="0"/>
            <a:r>
              <a:rPr lang="en-IN" sz="2000" dirty="0"/>
              <a:t>Participation growth occurred for both genders, indicating that the assessment expanded its reach over time. </a:t>
            </a:r>
          </a:p>
          <a:p>
            <a:r>
              <a:rPr lang="en-IN" sz="2000" b="1" dirty="0"/>
              <a:t>Interpretation</a:t>
            </a:r>
            <a:endParaRPr lang="en-IN" sz="2000" dirty="0"/>
          </a:p>
          <a:p>
            <a:pPr lvl="0"/>
            <a:r>
              <a:rPr lang="en-IN" sz="2000" dirty="0"/>
              <a:t>The consistently higher female participation indicates sustained engagement of girls in the assessment process during the three academic years. This interpretation is based on the participation counts reported by your analysis. </a:t>
            </a:r>
          </a:p>
          <a:p>
            <a:pPr lvl="0"/>
            <a:r>
              <a:rPr lang="en-IN" sz="2000" dirty="0"/>
              <a:t>The increase in participation for both genders suggests that the program reached a larger student population over time, although participation counts alone do not indicate differences in learning outcomes</a:t>
            </a:r>
          </a:p>
          <a:p>
            <a:pPr defTabSz="457200">
              <a:lnSpc>
                <a:spcPct val="100000"/>
              </a:lnSpc>
            </a:pPr>
            <a:endParaRPr lang="en-IN" sz="2000" b="0" u="none" strike="noStrike" dirty="0">
              <a:solidFill>
                <a:srgbClr val="000000"/>
              </a:solidFill>
              <a:effectLst/>
              <a:uFillTx/>
              <a:latin typeface="Arial"/>
            </a:endParaRPr>
          </a:p>
        </p:txBody>
      </p:sp>
      <p:sp>
        <p:nvSpPr>
          <p:cNvPr id="72"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828800" y="25164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Predictive / Diagnostic Analysis</a:t>
            </a:r>
            <a:br>
              <a:rPr sz="4400" dirty="0"/>
            </a:br>
            <a:endParaRPr lang="en-US" sz="4400" b="0" u="none" strike="noStrike" dirty="0">
              <a:solidFill>
                <a:schemeClr val="dk1"/>
              </a:solidFill>
              <a:effectLst/>
              <a:uFillTx/>
              <a:latin typeface="Calibri"/>
            </a:endParaRPr>
          </a:p>
        </p:txBody>
      </p:sp>
      <p:sp>
        <p:nvSpPr>
          <p:cNvPr id="73" name="TextBox 4"/>
          <p:cNvSpPr/>
          <p:nvPr/>
        </p:nvSpPr>
        <p:spPr>
          <a:xfrm>
            <a:off x="731520" y="1097280"/>
            <a:ext cx="5486040" cy="457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Model</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Metrics</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Important predictors</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Early warning</a:t>
            </a:r>
            <a:endParaRPr lang="en-IN" sz="2000" b="0" u="none" strike="noStrike" dirty="0">
              <a:solidFill>
                <a:srgbClr val="000000"/>
              </a:solidFill>
              <a:effectLst/>
              <a:uFillTx/>
              <a:latin typeface="Arial"/>
            </a:endParaRPr>
          </a:p>
        </p:txBody>
      </p:sp>
      <p:sp>
        <p:nvSpPr>
          <p:cNvPr id="74"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Visualization / Dashboard</a:t>
            </a:r>
            <a:br>
              <a:rPr sz="4400"/>
            </a:br>
            <a:endParaRPr lang="en-US" sz="4400" b="0" u="none" strike="noStrike">
              <a:solidFill>
                <a:schemeClr val="dk1"/>
              </a:solidFill>
              <a:effectLst/>
              <a:uFillTx/>
              <a:latin typeface="Calibri"/>
            </a:endParaRPr>
          </a:p>
        </p:txBody>
      </p:sp>
      <p:sp>
        <p:nvSpPr>
          <p:cNvPr id="75" name="TextBox 2"/>
          <p:cNvSpPr/>
          <p:nvPr/>
        </p:nvSpPr>
        <p:spPr>
          <a:xfrm>
            <a:off x="457200" y="274320"/>
            <a:ext cx="1843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endParaRPr lang="en-US" sz="2800" b="1" u="none" strike="noStrike">
              <a:solidFill>
                <a:schemeClr val="dk1"/>
              </a:solidFill>
              <a:effectLst/>
              <a:uFillTx/>
              <a:latin typeface="Calibri"/>
            </a:endParaRPr>
          </a:p>
        </p:txBody>
      </p:sp>
      <p:sp>
        <p:nvSpPr>
          <p:cNvPr id="76" name="TextBox 4"/>
          <p:cNvSpPr/>
          <p:nvPr/>
        </p:nvSpPr>
        <p:spPr>
          <a:xfrm>
            <a:off x="731520" y="1097280"/>
            <a:ext cx="10866120" cy="132198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Dashboard screenshots</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KPIs</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Maps/Charts</a:t>
            </a:r>
          </a:p>
          <a:p>
            <a:pPr defTabSz="457200">
              <a:lnSpc>
                <a:spcPct val="100000"/>
              </a:lnSpc>
            </a:pPr>
            <a:endParaRPr lang="en-IN" sz="2000" b="0" u="none" strike="noStrike" dirty="0">
              <a:solidFill>
                <a:srgbClr val="000000"/>
              </a:solidFill>
              <a:effectLst/>
              <a:uFillTx/>
              <a:latin typeface="Arial"/>
            </a:endParaRPr>
          </a:p>
        </p:txBody>
      </p:sp>
      <p:sp>
        <p:nvSpPr>
          <p:cNvPr id="77"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pic>
        <p:nvPicPr>
          <p:cNvPr id="3" name="Picture 2">
            <a:extLst>
              <a:ext uri="{FF2B5EF4-FFF2-40B4-BE49-F238E27FC236}">
                <a16:creationId xmlns:a16="http://schemas.microsoft.com/office/drawing/2014/main" id="{4BCAC8E8-0D47-7E85-1990-783887E2B304}"/>
              </a:ext>
            </a:extLst>
          </p:cNvPr>
          <p:cNvPicPr>
            <a:picLocks noChangeAspect="1"/>
          </p:cNvPicPr>
          <p:nvPr/>
        </p:nvPicPr>
        <p:blipFill>
          <a:blip r:embed="rId2"/>
          <a:stretch>
            <a:fillRect/>
          </a:stretch>
        </p:blipFill>
        <p:spPr>
          <a:xfrm>
            <a:off x="259080" y="2239920"/>
            <a:ext cx="11475720" cy="46180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3B9C7A-CED6-0FA5-92A8-BC125EA376BA}"/>
              </a:ext>
            </a:extLst>
          </p:cNvPr>
          <p:cNvPicPr>
            <a:picLocks noChangeAspect="1"/>
          </p:cNvPicPr>
          <p:nvPr/>
        </p:nvPicPr>
        <p:blipFill>
          <a:blip r:embed="rId2"/>
          <a:stretch>
            <a:fillRect/>
          </a:stretch>
        </p:blipFill>
        <p:spPr>
          <a:xfrm>
            <a:off x="883920" y="925058"/>
            <a:ext cx="9646920" cy="5007883"/>
          </a:xfrm>
          <a:prstGeom prst="rect">
            <a:avLst/>
          </a:prstGeom>
        </p:spPr>
      </p:pic>
    </p:spTree>
    <p:extLst>
      <p:ext uri="{BB962C8B-B14F-4D97-AF65-F5344CB8AC3E}">
        <p14:creationId xmlns:p14="http://schemas.microsoft.com/office/powerpoint/2010/main" val="4215667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C2A23B-DD85-6B4E-C395-C32F1C56A079}"/>
              </a:ext>
            </a:extLst>
          </p:cNvPr>
          <p:cNvPicPr>
            <a:picLocks noChangeAspect="1"/>
          </p:cNvPicPr>
          <p:nvPr/>
        </p:nvPicPr>
        <p:blipFill>
          <a:blip r:embed="rId2"/>
          <a:stretch>
            <a:fillRect/>
          </a:stretch>
        </p:blipFill>
        <p:spPr>
          <a:xfrm>
            <a:off x="411480" y="533400"/>
            <a:ext cx="11414760" cy="6096000"/>
          </a:xfrm>
          <a:prstGeom prst="rect">
            <a:avLst/>
          </a:prstGeom>
        </p:spPr>
      </p:pic>
    </p:spTree>
    <p:extLst>
      <p:ext uri="{BB962C8B-B14F-4D97-AF65-F5344CB8AC3E}">
        <p14:creationId xmlns:p14="http://schemas.microsoft.com/office/powerpoint/2010/main" val="4009933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0B5756-2CCC-A2B5-3EC9-9BC01714097A}"/>
              </a:ext>
            </a:extLst>
          </p:cNvPr>
          <p:cNvPicPr>
            <a:picLocks noChangeAspect="1"/>
          </p:cNvPicPr>
          <p:nvPr/>
        </p:nvPicPr>
        <p:blipFill>
          <a:blip r:embed="rId2"/>
          <a:stretch>
            <a:fillRect/>
          </a:stretch>
        </p:blipFill>
        <p:spPr>
          <a:xfrm>
            <a:off x="228600" y="381000"/>
            <a:ext cx="11490960" cy="6263640"/>
          </a:xfrm>
          <a:prstGeom prst="rect">
            <a:avLst/>
          </a:prstGeom>
        </p:spPr>
      </p:pic>
    </p:spTree>
    <p:extLst>
      <p:ext uri="{BB962C8B-B14F-4D97-AF65-F5344CB8AC3E}">
        <p14:creationId xmlns:p14="http://schemas.microsoft.com/office/powerpoint/2010/main" val="2925486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1828800" y="3088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Recommendations and Road Map</a:t>
            </a:r>
            <a:br>
              <a:rPr sz="4400" dirty="0"/>
            </a:br>
            <a:endParaRPr lang="en-US" sz="4400" b="0" u="none" strike="noStrike" dirty="0">
              <a:solidFill>
                <a:schemeClr val="dk1"/>
              </a:solidFill>
              <a:effectLst/>
              <a:uFillTx/>
              <a:latin typeface="Calibri"/>
            </a:endParaRPr>
          </a:p>
        </p:txBody>
      </p:sp>
      <p:sp>
        <p:nvSpPr>
          <p:cNvPr id="78" name="TextBox 2"/>
          <p:cNvSpPr/>
          <p:nvPr/>
        </p:nvSpPr>
        <p:spPr>
          <a:xfrm>
            <a:off x="457200" y="274320"/>
            <a:ext cx="1843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endParaRPr lang="en-US" sz="2800" b="1" u="none" strike="noStrike">
              <a:solidFill>
                <a:schemeClr val="dk1"/>
              </a:solidFill>
              <a:effectLst/>
              <a:uFillTx/>
              <a:latin typeface="Calibri"/>
            </a:endParaRPr>
          </a:p>
        </p:txBody>
      </p:sp>
      <p:sp>
        <p:nvSpPr>
          <p:cNvPr id="79" name="TextBox 4"/>
          <p:cNvSpPr/>
          <p:nvPr/>
        </p:nvSpPr>
        <p:spPr>
          <a:xfrm>
            <a:off x="822960" y="1548900"/>
            <a:ext cx="11302174" cy="34148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r>
              <a:rPr lang="en-IN" sz="2400" b="1" dirty="0"/>
              <a:t>Priority Actions</a:t>
            </a:r>
          </a:p>
          <a:p>
            <a:pPr lvl="0"/>
            <a:r>
              <a:rPr lang="en-IN" sz="2400" dirty="0"/>
              <a:t>Focus remedial learning programs in low-performing districts and blocks. </a:t>
            </a:r>
          </a:p>
          <a:p>
            <a:pPr lvl="0"/>
            <a:r>
              <a:rPr lang="en-IN" sz="2400" dirty="0"/>
              <a:t>Strengthen weak math competencies through targeted classroom activities. </a:t>
            </a:r>
          </a:p>
          <a:p>
            <a:r>
              <a:rPr lang="en-IN" sz="2400" b="1" dirty="0"/>
              <a:t>Impact</a:t>
            </a:r>
          </a:p>
          <a:p>
            <a:pPr lvl="0"/>
            <a:r>
              <a:rPr lang="en-IN" sz="2400" dirty="0"/>
              <a:t>Improve overall student math competency and learning outcomes. </a:t>
            </a:r>
          </a:p>
          <a:p>
            <a:pPr lvl="0"/>
            <a:r>
              <a:rPr lang="en-IN" sz="2400" dirty="0"/>
              <a:t>Reduce performance gaps between high- and low-performing regions. </a:t>
            </a:r>
          </a:p>
          <a:p>
            <a:r>
              <a:rPr lang="en-IN" sz="2400" b="1" dirty="0"/>
              <a:t>Feasibility</a:t>
            </a:r>
          </a:p>
          <a:p>
            <a:pPr lvl="0"/>
            <a:r>
              <a:rPr lang="en-IN" sz="2400" dirty="0"/>
              <a:t>Can be implemented using existing school teachers and district education officers. </a:t>
            </a:r>
          </a:p>
          <a:p>
            <a:pPr lvl="0"/>
            <a:r>
              <a:rPr lang="en-IN" sz="2400" dirty="0"/>
              <a:t>Progress can be monitored annually using the same competency assessment framework. </a:t>
            </a:r>
          </a:p>
        </p:txBody>
      </p:sp>
      <p:sp>
        <p:nvSpPr>
          <p:cNvPr id="80"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Innovation &amp; Impact</a:t>
            </a:r>
            <a:br>
              <a:rPr sz="4400"/>
            </a:br>
            <a:endParaRPr lang="en-US" sz="4400" b="0" u="none" strike="noStrike">
              <a:solidFill>
                <a:schemeClr val="dk1"/>
              </a:solidFill>
              <a:effectLst/>
              <a:uFillTx/>
              <a:latin typeface="Calibri"/>
            </a:endParaRPr>
          </a:p>
        </p:txBody>
      </p:sp>
      <p:sp>
        <p:nvSpPr>
          <p:cNvPr id="81" name="TextBox 4"/>
          <p:cNvSpPr/>
          <p:nvPr/>
        </p:nvSpPr>
        <p:spPr>
          <a:xfrm>
            <a:off x="731520" y="1097280"/>
            <a:ext cx="11299353" cy="4892193"/>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r>
              <a:rPr lang="en-IN" sz="2400" b="1" dirty="0"/>
              <a:t>Novelty</a:t>
            </a:r>
          </a:p>
          <a:p>
            <a:pPr lvl="0"/>
            <a:r>
              <a:rPr lang="en-IN" sz="2400" dirty="0"/>
              <a:t>Combines multi-year (2022–23 to 2024–25) competency analysis for trend identification. </a:t>
            </a:r>
          </a:p>
          <a:p>
            <a:pPr lvl="0"/>
            <a:r>
              <a:rPr lang="en-IN" sz="2400" dirty="0"/>
              <a:t>Provides district-wise and block-wise insights for targeted interventions. </a:t>
            </a:r>
          </a:p>
          <a:p>
            <a:r>
              <a:rPr lang="en-IN" sz="2400" b="1" dirty="0"/>
              <a:t>Scalability</a:t>
            </a:r>
          </a:p>
          <a:p>
            <a:pPr lvl="0"/>
            <a:r>
              <a:rPr lang="en-IN" sz="2400" dirty="0"/>
              <a:t>The framework can be extended to all districts and future academic years. </a:t>
            </a:r>
          </a:p>
          <a:p>
            <a:pPr lvl="0"/>
            <a:r>
              <a:rPr lang="en-IN" sz="2400" dirty="0"/>
              <a:t>Can be adapted for other subjects like Science and Language. </a:t>
            </a:r>
          </a:p>
          <a:p>
            <a:r>
              <a:rPr lang="en-IN" sz="2400" b="1" dirty="0"/>
              <a:t>Limitations</a:t>
            </a:r>
          </a:p>
          <a:p>
            <a:pPr lvl="0"/>
            <a:r>
              <a:rPr lang="en-IN" sz="2400" dirty="0"/>
              <a:t>Results depend on the completeness and accuracy of the assessment data. </a:t>
            </a:r>
          </a:p>
          <a:p>
            <a:pPr lvl="0"/>
            <a:r>
              <a:rPr lang="en-IN" sz="2400" dirty="0"/>
              <a:t>External factors (attendance, socioeconomic conditions) are not included in the analysis. </a:t>
            </a:r>
          </a:p>
          <a:p>
            <a:r>
              <a:rPr lang="en-IN" sz="2400" b="1" dirty="0"/>
              <a:t>Expected Impact</a:t>
            </a:r>
          </a:p>
          <a:p>
            <a:pPr lvl="0"/>
            <a:r>
              <a:rPr lang="en-IN" sz="2400" dirty="0"/>
              <a:t>Supports evidence-based educational planning and resource allocation. </a:t>
            </a:r>
          </a:p>
          <a:p>
            <a:pPr lvl="0"/>
            <a:r>
              <a:rPr lang="en-IN" sz="2400" dirty="0"/>
              <a:t>Helps policymakers prioritize interventions in low-performing regions.</a:t>
            </a:r>
          </a:p>
          <a:p>
            <a:pPr defTabSz="457200">
              <a:lnSpc>
                <a:spcPct val="100000"/>
              </a:lnSpc>
            </a:pPr>
            <a:endParaRPr lang="en-IN" sz="2400" b="0" u="none" strike="noStrike" dirty="0">
              <a:solidFill>
                <a:srgbClr val="000000"/>
              </a:solidFill>
              <a:effectLst/>
              <a:uFillTx/>
              <a:latin typeface="Arial"/>
            </a:endParaRPr>
          </a:p>
        </p:txBody>
      </p:sp>
      <p:sp>
        <p:nvSpPr>
          <p:cNvPr id="82"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Conclusion &amp; Key Takeaways</a:t>
            </a:r>
            <a:br>
              <a:rPr sz="4400"/>
            </a:br>
            <a:endParaRPr lang="en-US" sz="4400" b="0" u="none" strike="noStrike">
              <a:solidFill>
                <a:schemeClr val="dk1"/>
              </a:solidFill>
              <a:effectLst/>
              <a:uFillTx/>
              <a:latin typeface="Calibri"/>
            </a:endParaRPr>
          </a:p>
        </p:txBody>
      </p:sp>
      <p:sp>
        <p:nvSpPr>
          <p:cNvPr id="83" name="TextBox 4"/>
          <p:cNvSpPr/>
          <p:nvPr/>
        </p:nvSpPr>
        <p:spPr>
          <a:xfrm>
            <a:off x="731520" y="1097280"/>
            <a:ext cx="10530840" cy="489219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IN" sz="2400" b="1" dirty="0"/>
              <a:t>Top Takeaways</a:t>
            </a:r>
          </a:p>
          <a:p>
            <a:pPr lvl="0"/>
            <a:r>
              <a:rPr lang="en-IN" sz="2400" dirty="0"/>
              <a:t>Significant variation exists in math competency across districts and blocks. </a:t>
            </a:r>
          </a:p>
          <a:p>
            <a:pPr lvl="0"/>
            <a:r>
              <a:rPr lang="en-IN" sz="2400" dirty="0"/>
              <a:t>Multi-year analysis highlights both improving regions and areas requiring immediate attention. </a:t>
            </a:r>
          </a:p>
          <a:p>
            <a:r>
              <a:rPr lang="en-IN" sz="2400" b="1" dirty="0"/>
              <a:t>Next Steps</a:t>
            </a:r>
          </a:p>
          <a:p>
            <a:pPr lvl="0"/>
            <a:r>
              <a:rPr lang="en-IN" sz="2400" dirty="0"/>
              <a:t>Implement focused interventions for low-performing competencies and monitor progress yearly. </a:t>
            </a:r>
          </a:p>
          <a:p>
            <a:pPr lvl="0"/>
            <a:r>
              <a:rPr lang="en-IN" sz="2400" dirty="0"/>
              <a:t>Develop an interactive dashboard for continuous district and block-level performance tracking.</a:t>
            </a:r>
          </a:p>
          <a:p>
            <a:r>
              <a:rPr lang="en-IN" sz="2400" b="1" dirty="0"/>
              <a:t>Thank You</a:t>
            </a:r>
          </a:p>
          <a:p>
            <a:pPr lvl="0"/>
            <a:r>
              <a:rPr lang="en-IN" sz="2400" dirty="0"/>
              <a:t>Thank you for your time and valuable attention. </a:t>
            </a:r>
          </a:p>
          <a:p>
            <a:pPr lvl="0"/>
            <a:r>
              <a:rPr lang="en-IN" sz="2400" dirty="0"/>
              <a:t>We welcome your questions and feedback. </a:t>
            </a:r>
          </a:p>
          <a:p>
            <a:pPr defTabSz="457200">
              <a:lnSpc>
                <a:spcPct val="100000"/>
              </a:lnSpc>
            </a:pPr>
            <a:endParaRPr lang="en-IN" sz="2400" b="0" u="none" strike="noStrike" dirty="0">
              <a:solidFill>
                <a:srgbClr val="000000"/>
              </a:solidFill>
              <a:effectLst/>
              <a:uFillTx/>
              <a:latin typeface="Arial"/>
            </a:endParaRPr>
          </a:p>
        </p:txBody>
      </p:sp>
      <p:sp>
        <p:nvSpPr>
          <p:cNvPr id="84"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292</TotalTime>
  <Words>2076</Words>
  <Application>Microsoft Office PowerPoint</Application>
  <PresentationFormat>Widescreen</PresentationFormat>
  <Paragraphs>191</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Symbol</vt:lpstr>
      <vt:lpstr>Times New Roman</vt:lpstr>
      <vt:lpstr>Wingdings</vt:lpstr>
      <vt:lpstr>Office Theme</vt:lpstr>
      <vt:lpstr>Team &amp; Solution Overview </vt:lpstr>
      <vt:lpstr>Problem Statement </vt:lpstr>
      <vt:lpstr>PowerPoint Presentation</vt:lpstr>
      <vt:lpstr>PowerPoint Presentation</vt:lpstr>
      <vt:lpstr>Dataset Understanding </vt:lpstr>
      <vt:lpstr>PowerPoint Presentation</vt:lpstr>
      <vt:lpstr>PowerPoint Presentation</vt:lpstr>
      <vt:lpstr>PowerPoint Presentation</vt:lpstr>
      <vt:lpstr>Analytical Approach </vt:lpstr>
      <vt:lpstr>PowerPoint Presentation</vt:lpstr>
      <vt:lpstr>PowerPoint Presentation</vt:lpstr>
      <vt:lpstr>PowerPoint Presentation</vt:lpstr>
      <vt:lpstr>Key Insight 1: Year-wise Performance and Participation Analysis. </vt:lpstr>
      <vt:lpstr>Key Insight 2: Gender-wise Participation </vt:lpstr>
      <vt:lpstr>Predictive / Diagnostic Analysis </vt:lpstr>
      <vt:lpstr>Visualization / Dashboard </vt:lpstr>
      <vt:lpstr>PowerPoint Presentation</vt:lpstr>
      <vt:lpstr>PowerPoint Presentation</vt:lpstr>
      <vt:lpstr>PowerPoint Presentation</vt:lpstr>
      <vt:lpstr>Recommendations and Road Map </vt:lpstr>
      <vt:lpstr>Innovation &amp; Impact </vt:lpstr>
      <vt:lpstr>Conclusion &amp; 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&amp; Solution Overview</dc:title>
  <dc:subject/>
  <dc:creator>Kruthika S L</dc:creator>
  <dc:description>generated using python-pptx</dc:description>
  <cp:lastModifiedBy>Kruthika S L</cp:lastModifiedBy>
  <cp:revision>5</cp:revision>
  <dcterms:created xsi:type="dcterms:W3CDTF">2013-01-27T09:14:16Z</dcterms:created>
  <dcterms:modified xsi:type="dcterms:W3CDTF">2026-08-01T13:20:44Z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12</vt:i4>
  </property>
</Properties>
</file>